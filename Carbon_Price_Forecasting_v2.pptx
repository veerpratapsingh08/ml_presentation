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39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Price</a:t>
            </a:r>
            <a:endParaRPr lang="en-US" sz="54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21792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next-year compliance carbon prices from historical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ETS pricing data using supervised regression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" y="5806440"/>
            <a:ext cx="4572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87359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 Pratap Singh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trying to predict?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initiatives (taxes and emissions-trading systems) publish a price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year. Given this year's context, can we forecast next year's price?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3872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803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regression. The target, Next_Year_Price, is a continuous numeric value.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3872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8803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9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type, region, income group, current year, and current price of the initiative.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514600"/>
            <a:ext cx="353872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8803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9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&amp; businesses use carbon price outlooks to plan compliance costs and climate policy.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Carbon Price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self-sourced Kaggle dataset tracking carbon tax &amp; ETS prices for compliance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carbon-pricing initiatives worldwide, in wide (year-per-column) format.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514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2606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55848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(1990–2025)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3056" y="2514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163056" y="2606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63056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70264" y="2514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970264" y="2606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70264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Regions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in the raw file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Unique_ID  ·  Name  ·  Instrument_Type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474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  ·  Income_group  ·  Metric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43153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1990, 1991, ... , 2025  (one price column per year)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2519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 (raw, wide format)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7548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Tax_SE  ·  Sweden carbon tax  ·  Carbon tax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 &amp; Central Asia  ·  High income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1994: 43.43   1995: 47.9   1996: ...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Taming a malformed CSV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export had inconsistent row lengths and stray header rows mixed into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data, so a plain read_csv() would misalign columns.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an explicit header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34440" y="28163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all 42 columns manually (ID, Name, Instrument, Region, Income group, Metric + years 1990–2025) instead of trusting the file's own header row.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234440" y="37398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bad lines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34440" y="41148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on_bad_lines='skip' while reading, so malformed rows don't break the import.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234440" y="50383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garbage rows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34440" y="54132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where Unique_ID was actually a misplaced header value ('income', 'Unique ID') or missing entirely.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4688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F3D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69748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'Compliance_Price-Table1.csv',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names=header,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on_bad_lines='skip'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df[~df['Unique_ID'].isin(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['income', 'Unique ID', 'nan']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)].copy()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df.dropna(subset=['Unique_ID'])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RESHAPING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wide years to one tidy Year column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pd.melt() unpivots the 36 year-columns into two: Year and Price — the format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plotting libraries expect.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wide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rows  ×  42 columns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| Name | ... | 1990 | 1991 | ... | 2025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initiative, one column per year.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852160" y="23774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long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809 rows  ×  8 columns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| Name | Instrument | Region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group | Metric | Year | Price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initiative-year observation, after coercing Year/Price to numeric and dropping missing prices.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78440" y="2377440"/>
            <a:ext cx="1234440" cy="35661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 by region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609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5" name="Image 0" descr="imgs/cell1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6903720" cy="312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1488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Central Asia has by far the most initiatives (26) and the widest price spread, reflecting the EU ETS and multiple national carbon taxes.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0" y="38404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regions show visible outliers — high-priced Nordic taxes sit far above the regional median.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0" y="5486400"/>
            <a:ext cx="3383280" cy="18288"/>
          </a:xfrm>
          <a:prstGeom prst="rect">
            <a:avLst/>
          </a:prstGeom>
          <a:solidFill>
            <a:srgbClr val="DCE4D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56235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outliers motivate the IQR filtering step later.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 by instrument 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609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5" name="Image 0" descr="imgs/cell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6903720" cy="2609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79 initiatives, 40 are ETS (Emissions Trading Systems) and the rest are carbon taxes.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0" y="32918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taxes tend to show a wider price range — some jurisdictions set very high fixed rates, others near-zero — while ETS prices, set by market trading, cluster more tightly.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OUTLIER REMOVAL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extreme prices with the IQR 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boxplots revealed a handful of extreme prices that would distort model training. We used the classic Interquartile Range rule to drop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852160" cy="3566160"/>
          </a:xfrm>
          <a:prstGeom prst="roundRect">
            <a:avLst>
              <a:gd name="adj" fmla="val 3077"/>
            </a:avLst>
          </a:prstGeom>
          <a:solidFill>
            <a:srgbClr val="1F3D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Q3 − Q1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bound = Q1 − 1.5 × IQR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bound = Q3 + 1.5 × IQR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Price outside [lower, upper] is treated as an outlier and dropped from the modeling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37744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560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834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949440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389120"/>
            <a:ext cx="4389120" cy="18288"/>
          </a:xfrm>
          <a:prstGeom prst="rect">
            <a:avLst/>
          </a:prstGeom>
          <a:solidFill>
            <a:srgbClr val="DCE4D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809 rows  →  741 rows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5074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carried forward into feature engineering and model training.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prediction target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ready-made “next year price” column — we engineer it by shifting each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initiative's own price series forward by one year.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F3D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df_clean.groupby('Unique_ID')['Price']</a:t>
            </a:r>
            <a:endParaRPr lang="en-US" sz="14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.shift(-1)</a:t>
            </a:r>
            <a:endParaRPr lang="en-US" sz="1450" dirty="0"/>
          </a:p>
          <a:p>
            <a:pPr marL="0" indent="0">
              <a:lnSpc>
                <a:spcPct val="140000"/>
              </a:lnSpc>
              <a:buNone/>
            </a:pPr>
            <a:endParaRPr lang="en-US" sz="14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Next_Year_Price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Unique_ID and Year first, so each initiative's prices shift within its own timeline — not across different initiatives.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2377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inputs (X)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283464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96265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40156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3529584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401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96849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4096512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9684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Income_group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4535424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466344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5354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5102352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5230368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51023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(current year)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5806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(y): Next_Year_Price   ·   Split: 80/20  →  533 training rows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Preprocessing, then three regressors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ColumnTransformer scales numeric features and one-hot encodes categorical ones, wrapped in a Pipeline with the model — so the same steps apply at prediction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— StandardScaler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Price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scale so no feature dominates by magnitude.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— OneHotEncoder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Instrument_Type, Region, Income_group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keeps unseen categories from breaking inference.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candidate models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720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443484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5720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51206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trees, captures non-linearity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443484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5720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51206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corrects errors, often strongest fit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model performance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120640" cy="2011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and higher R² both indicate a better fit. Random Forest and Gradient Boosting perform almost identically and clearly beat the linear baseline — the relationship between price history and next-year price isn't purely linear.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943600" y="1691640"/>
            <a:ext cx="566928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7" name="Image 0" descr="imgs/cell19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20240"/>
            <a:ext cx="5212080" cy="32529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MODEL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inputs influence the Gradient Boosting model's prediction the most?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5836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6" name="Image 0" descr="img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217920" cy="3730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Driver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0" y="28346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year's 'Price' overwhelmingly drives the prediction for the next year. Carbon prices follow strong auto-regressive trends.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Effects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4572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and Income group provide secondary context, allowing the tree to adjust for inflation/time and regional wealth disparities.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FINAL MODEL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Boosting, shipped as a Streamlit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389120" cy="4617720"/>
          </a:xfrm>
          <a:prstGeom prst="roundRect">
            <a:avLst>
              <a:gd name="adj" fmla="val 2500"/>
            </a:avLst>
          </a:prstGeom>
          <a:solidFill>
            <a:srgbClr val="1F3D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0.745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3840480" cy="13716"/>
          </a:xfrm>
          <a:prstGeom prst="rect">
            <a:avLst/>
          </a:prstGeom>
          <a:solidFill>
            <a:srgbClr val="3E5C4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26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full pipeline and exported with joblib.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joblib.dump(best_pipeline,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'carbon_model.pkl')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6492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pic>
        <p:nvPicPr>
          <p:cNvPr id="14" name="Image 0" descr="imgs/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5943600" cy="3566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where this could go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 malformed, self-sourced carbon pricing dataset</a:t>
            </a:r>
            <a:endParaRPr lang="en-US" sz="1250" dirty="0">
              <a:solidFill>
                <a:srgbClr val="00B05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578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79 initiatives into 741 clean year-level observations</a:t>
            </a:r>
            <a:endParaRPr lang="en-US" sz="1250" dirty="0">
              <a:solidFill>
                <a:srgbClr val="00B05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1455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forward-looking Next_Year_Price target</a:t>
            </a:r>
            <a:endParaRPr lang="en-US" sz="1250" dirty="0">
              <a:solidFill>
                <a:srgbClr val="00B05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12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3 regressors; Gradient Boosting reached R² = 0.745</a:t>
            </a:r>
            <a:endParaRPr lang="en-US" sz="1250" dirty="0">
              <a:solidFill>
                <a:srgbClr val="00B05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2793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model behind a live Streamlit interface</a:t>
            </a:r>
            <a:endParaRPr lang="en-US" sz="1250" dirty="0">
              <a:solidFill>
                <a:srgbClr val="00B05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1F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23317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 / Optuna) on the boosting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1089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macroeconomic features — energy prices, GDP, policy events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3886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time-series-specific models (ARIMA, Prophet) per initiative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484632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46634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with more recent and more granular price data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23560" y="4206240"/>
            <a:ext cx="9144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 Pratap Singh   ·  Carbon Price Forecasting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1312</Words>
  <Application>Microsoft Macintosh PowerPoint</Application>
  <PresentationFormat>Widescreen</PresentationFormat>
  <Paragraphs>209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Veer Pratap Singh</cp:lastModifiedBy>
  <cp:revision>3</cp:revision>
  <dcterms:created xsi:type="dcterms:W3CDTF">2026-07-28T18:00:11Z</dcterms:created>
  <dcterms:modified xsi:type="dcterms:W3CDTF">2026-07-30T05:12:50Z</dcterms:modified>
</cp:coreProperties>
</file>